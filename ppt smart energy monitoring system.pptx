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Power Consumption vs Time (W)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 (W)</c:v>
                </c:pt>
              </c:strCache>
            </c:strRef>
          </c:tx>
          <c:spPr>
            <a:solidFill>
              <a:srgbClr val="028090"/>
            </a:solidFill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8AM</c:v>
                  </c:pt>
                  <c:pt idx="1">
                    <c:v>10AM</c:v>
                  </c:pt>
                  <c:pt idx="2">
                    <c:v>12PM</c:v>
                  </c:pt>
                  <c:pt idx="3">
                    <c:v>2PM</c:v>
                  </c:pt>
                  <c:pt idx="4">
                    <c:v>4PM</c:v>
                  </c:pt>
                  <c:pt idx="5">
                    <c:v>6PM</c:v>
                  </c:pt>
                  <c:pt idx="6">
                    <c:v>8PM</c:v>
                  </c:pt>
                  <c:pt idx="7">
                    <c:v>10PM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45</c:v>
                </c:pt>
                <c:pt idx="1">
                  <c:v>120</c:v>
                </c:pt>
                <c:pt idx="2">
                  <c:v>210</c:v>
                </c:pt>
                <c:pt idx="3">
                  <c:v>175</c:v>
                </c:pt>
                <c:pt idx="4">
                  <c:v>140</c:v>
                </c:pt>
                <c:pt idx="5">
                  <c:v>260</c:v>
                </c:pt>
                <c:pt idx="6">
                  <c:v>310</c:v>
                </c:pt>
                <c:pt idx="7">
                  <c:v>180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0D2E45"/>
          </a:solidFill>
          <a:ln w="12700">
            <a:solidFill>
              <a:srgbClr val="0D2E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675120" y="-1097280"/>
            <a:ext cx="3657600" cy="3657600"/>
          </a:xfrm>
          <a:prstGeom prst="ellipse">
            <a:avLst/>
          </a:prstGeom>
          <a:solidFill>
            <a:srgbClr val="0F3550"/>
          </a:solidFill>
          <a:ln w="12700">
            <a:solidFill>
              <a:srgbClr val="0F35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D2E45"/>
          </a:solidFill>
          <a:ln w="12700">
            <a:solidFill>
              <a:srgbClr val="0D2E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64008"/>
            <a:ext cx="9144000" cy="777240"/>
          </a:xfrm>
          <a:prstGeom prst="rect">
            <a:avLst/>
          </a:prstGeom>
          <a:solidFill>
            <a:srgbClr val="0D1F33"/>
          </a:solidFill>
          <a:ln w="12700">
            <a:solidFill>
              <a:srgbClr val="0D1F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 Dharmasthala Manjunatheshwara College of Engineering &amp; Technology, Dharwad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4754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Electronics &amp; Communication Engineering  |  Academic Year 2025–26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877824"/>
            <a:ext cx="9144000" cy="18288"/>
          </a:xfrm>
          <a:prstGeom prst="rect">
            <a:avLst/>
          </a:prstGeom>
          <a:solidFill>
            <a:srgbClr val="01A085">
              <a:alpha val="40000"/>
            </a:srgbClr>
          </a:solidFill>
          <a:ln w="12700">
            <a:solidFill>
              <a:srgbClr val="01A0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51560"/>
            <a:ext cx="82296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0058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57200" y="18745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Energy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7200" y="2651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2651760" y="3520440"/>
            <a:ext cx="3840480" cy="384048"/>
          </a:xfrm>
          <a:prstGeom prst="roundRect">
            <a:avLst>
              <a:gd name="adj" fmla="val 2381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51760" y="352044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Semester Minor Project – 2  |  22UECL605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8229600" cy="914400"/>
          </a:xfrm>
          <a:prstGeom prst="rect">
            <a:avLst/>
          </a:prstGeom>
          <a:solidFill>
            <a:srgbClr val="0D1F33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041648"/>
            <a:ext cx="54864" cy="9144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069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Sameet Mulla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2SD23EC128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Mahalingayya Sali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2SD23EC058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Ranjeet Ulligeri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0" y="43434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2SD23EC083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4632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Arjun Gulappanavar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617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2SD23EC022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0"/>
            <a:ext cx="54864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11480" y="795528"/>
            <a:ext cx="146304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960120"/>
            <a:ext cx="3977640" cy="3657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00584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426464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3898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wastage in homes &amp; industries is uncontrolled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29384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1892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visibility into power consumption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32304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395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remote control over connected appliances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35224"/>
            <a:ext cx="164592" cy="164592"/>
          </a:xfrm>
          <a:prstGeom prst="ellipse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98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bills arrive without prior warning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960120"/>
            <a:ext cx="397764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00584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Motivation &amp; Solution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00600" y="142646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38988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enables smart &amp; connected energy solutions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192938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89280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combines Wi-Fi + processing compactly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243230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2395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provides real-time cloud data storage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935224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289864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dashboards make data accessible anywhere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11480" y="3547872"/>
            <a:ext cx="832104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3547872"/>
            <a:ext cx="832104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566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Project Objective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393192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200" dirty="0">
                <a:solidFill>
                  <a:srgbClr val="C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design and implement a Smart Energy Monitoring System using ESP32 that measures real-time voltage, current, and power consumption — stores data on Firebase cloud, enables remote appliance control via relay, and provides a web-based dashboard with live graphs, smart alerts, and monthly usage prediction.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2743200" cy="2743200"/>
          </a:xfrm>
          <a:prstGeom prst="ellipse">
            <a:avLst/>
          </a:prstGeom>
          <a:solidFill>
            <a:srgbClr val="0D2133"/>
          </a:solidFill>
          <a:ln w="12700">
            <a:solidFill>
              <a:srgbClr val="0D21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3200400"/>
            <a:ext cx="2286000" cy="2286000"/>
          </a:xfrm>
          <a:prstGeom prst="ellipse">
            <a:avLst/>
          </a:prstGeom>
          <a:solidFill>
            <a:srgbClr val="0D2133"/>
          </a:solidFill>
          <a:ln w="12700">
            <a:solidFill>
              <a:srgbClr val="0D21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777240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10515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1051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Power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0240" y="105156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20240" y="1051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749040" y="105156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1051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77840" y="1051560"/>
            <a:ext cx="1600200" cy="685800"/>
          </a:xfrm>
          <a:prstGeom prst="roundRect">
            <a:avLst>
              <a:gd name="adj" fmla="val 13333"/>
            </a:avLst>
          </a:prstGeom>
          <a:solidFill>
            <a:srgbClr val="8B3A8B"/>
          </a:solidFill>
          <a:ln w="12700">
            <a:solidFill>
              <a:srgbClr val="8B3A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051560"/>
            <a:ext cx="1600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223760" y="1051560"/>
            <a:ext cx="1554480" cy="685800"/>
          </a:xfrm>
          <a:prstGeom prst="roundRect">
            <a:avLst>
              <a:gd name="adj" fmla="val 13333"/>
            </a:avLst>
          </a:prstGeom>
          <a:solidFill>
            <a:srgbClr val="444455"/>
          </a:solidFill>
          <a:ln w="12700">
            <a:solidFill>
              <a:srgbClr val="44445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223760" y="105156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0" y="233172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0" y="23317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71600" y="36576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3657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DB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0" y="36576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0" y="3657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(HTML/JS)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0" y="365760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0" y="365760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Telegram/Email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645920" y="1389888"/>
            <a:ext cx="27432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1389888"/>
            <a:ext cx="2286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49240" y="1389888"/>
            <a:ext cx="22860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1389888"/>
            <a:ext cx="9144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1737360"/>
            <a:ext cx="0" cy="59436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1737360"/>
            <a:ext cx="0" cy="59436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3200400"/>
            <a:ext cx="0" cy="4572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14600" y="3200400"/>
            <a:ext cx="0" cy="4572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3200400"/>
            <a:ext cx="0" cy="45720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1: System Block Diagram of Smart Energy Monitoring System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9144000" cy="7772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64008" cy="8046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152144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NodeMCU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813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 Microcontroller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06040" y="1078992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78992"/>
            <a:ext cx="64008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15768" y="1170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08960" y="1152144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(5A)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1481328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Sensor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011680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011680"/>
            <a:ext cx="64008" cy="8046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🔌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208483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Sensor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41401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Voltage Divider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06040" y="2011680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606040" y="2011680"/>
            <a:ext cx="64008" cy="804672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15768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🔧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108960" y="2084832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Relay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108960" y="2414016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Appliance Control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2944368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2944368"/>
            <a:ext cx="64008" cy="804672"/>
          </a:xfrm>
          <a:prstGeom prst="rect">
            <a:avLst/>
          </a:prstGeom>
          <a:solidFill>
            <a:srgbClr val="333355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301752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0.96" OLED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1520" y="334670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I2C Display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2944368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06040" y="2944368"/>
            <a:ext cx="64008" cy="8046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15768" y="3035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🔋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108960" y="3017520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AC-05-03 PSU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108960" y="3346704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5V DC Power Supply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" y="3877056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28600" y="3877056"/>
            <a:ext cx="64008" cy="804672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☁️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1520" y="395020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279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Backend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06040" y="3877056"/>
            <a:ext cx="2240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606040" y="3877056"/>
            <a:ext cx="64008" cy="804672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15768" y="39684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3108960" y="3950208"/>
            <a:ext cx="16642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HTML/JS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108960" y="4279392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92040" y="1005840"/>
            <a:ext cx="402336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92040" y="100584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05672" y="1005840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92040" y="37764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805672" y="3776472"/>
            <a:ext cx="109728" cy="10972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0" name="Image 0" descr="/home/claude/circuit_cropp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83480" y="1097280"/>
            <a:ext cx="3840480" cy="2606040"/>
          </a:xfrm>
          <a:prstGeom prst="rect">
            <a:avLst/>
          </a:prstGeom>
        </p:spPr>
      </p:pic>
      <p:sp>
        <p:nvSpPr>
          <p:cNvPr id="51" name="Shape 48"/>
          <p:cNvSpPr/>
          <p:nvPr/>
        </p:nvSpPr>
        <p:spPr>
          <a:xfrm>
            <a:off x="4892040" y="3886200"/>
            <a:ext cx="402336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892040" y="3886200"/>
            <a:ext cx="64008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502920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2: Circuit Diagram (ESP32 + Sensors + Relay — Cirkit Designer)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0D2133"/>
          </a:solidFill>
          <a:ln w="12700">
            <a:solidFill>
              <a:srgbClr val="0D21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645920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8755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38328" y="1097280"/>
            <a:ext cx="475488" cy="475488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10642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Interfacing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" y="1645920"/>
            <a:ext cx="2560320" cy="27432"/>
          </a:xfrm>
          <a:prstGeom prst="rect">
            <a:avLst/>
          </a:prstGeom>
          <a:solidFill>
            <a:srgbClr val="1E88E5">
              <a:alpha val="60000"/>
            </a:srgbClr>
          </a:solidFill>
          <a:ln w="12700">
            <a:solidFill>
              <a:srgbClr val="1E88E5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171907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ACS712 reads AC current via ESP32 ADC. Voltage sensor uses resistive divider network. Analog readings converted to digital via 12-bit ADC.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72968" y="98755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09728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831336" y="110642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Calculation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82696" y="1645920"/>
            <a:ext cx="2560320" cy="27432"/>
          </a:xfrm>
          <a:prstGeom prst="rect">
            <a:avLst/>
          </a:prstGeom>
          <a:solidFill>
            <a:srgbClr val="028090">
              <a:alpha val="60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171907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= ADC × (Vref/4096) × scale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ADC × sensitivity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V × I (Watts)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= P × t (kWh)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17336" y="98755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27064" y="1097280"/>
            <a:ext cx="475488" cy="475488"/>
          </a:xfrm>
          <a:prstGeom prst="ellipse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27064" y="10789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75704" y="110642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Web Server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227064" y="1645920"/>
            <a:ext cx="2560320" cy="27432"/>
          </a:xfrm>
          <a:prstGeom prst="rect">
            <a:avLst/>
          </a:prstGeom>
          <a:solidFill>
            <a:srgbClr val="AB47BC">
              <a:alpha val="60000"/>
            </a:srgbClr>
          </a:solidFill>
          <a:ln w="12700">
            <a:solidFill>
              <a:srgbClr val="AB47BC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27064" y="171907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hosts an HTML/JS webpage. Accessible by opening the ESP32's IP address in any browser on the same Wi-Fi network.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295351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8328" y="3063240"/>
            <a:ext cx="475488" cy="47548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86968" y="30723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Integration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" y="3611880"/>
            <a:ext cx="2560320" cy="27432"/>
          </a:xfrm>
          <a:prstGeom prst="rect">
            <a:avLst/>
          </a:prstGeom>
          <a:solidFill>
            <a:srgbClr val="EF5350">
              <a:alpha val="60000"/>
            </a:srgbClr>
          </a:solidFill>
          <a:ln w="12700">
            <a:solidFill>
              <a:srgbClr val="EF5350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8328" y="368503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pushes real-time V, I, P values to Firebase Realtime Database. Timestamps stored for historical analysis and billing.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172968" y="295351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26A6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82696" y="3063240"/>
            <a:ext cx="475488" cy="475488"/>
          </a:xfrm>
          <a:prstGeom prst="ellipse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831336" y="30723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Control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82696" y="3611880"/>
            <a:ext cx="2560320" cy="27432"/>
          </a:xfrm>
          <a:prstGeom prst="rect">
            <a:avLst/>
          </a:prstGeom>
          <a:solidFill>
            <a:srgbClr val="26A69A">
              <a:alpha val="60000"/>
            </a:srgbClr>
          </a:solidFill>
          <a:ln w="12700">
            <a:solidFill>
              <a:srgbClr val="26A69A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368503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button writes ON/OFF flag to Firebase. ESP32 reads it and toggles relay output to control load remotely.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17336" y="2953512"/>
            <a:ext cx="2788920" cy="1828800"/>
          </a:xfrm>
          <a:prstGeom prst="rect">
            <a:avLst/>
          </a:prstGeom>
          <a:solidFill>
            <a:srgbClr val="0D1F33"/>
          </a:solidFill>
          <a:ln w="12700">
            <a:solidFill>
              <a:srgbClr val="FFA7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4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227064" y="3063240"/>
            <a:ext cx="475488" cy="475488"/>
          </a:xfrm>
          <a:prstGeom prst="ellipse">
            <a:avLst/>
          </a:prstGeom>
          <a:solidFill>
            <a:srgbClr val="FFA726"/>
          </a:solidFill>
          <a:ln w="12700">
            <a:solidFill>
              <a:srgbClr val="FFA7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27064" y="30449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775704" y="3072384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Display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27064" y="3611880"/>
            <a:ext cx="2560320" cy="27432"/>
          </a:xfrm>
          <a:prstGeom prst="rect">
            <a:avLst/>
          </a:prstGeom>
          <a:solidFill>
            <a:srgbClr val="FFA726">
              <a:alpha val="60000"/>
            </a:srgbClr>
          </a:solidFill>
          <a:ln w="12700">
            <a:solidFill>
              <a:srgbClr val="FFA726">
                <a:alpha val="6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27064" y="3685032"/>
            <a:ext cx="25603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0.96" SSD1306 OLED shows live readings locally. Updated every second over I2C. Useful when Wi-Fi is unavailable.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01168"/>
            <a:ext cx="9144000" cy="7132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Data Visualization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5156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34440"/>
            <a:ext cx="475488" cy="47548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112471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V, I, P values displayed on ESP32-hosted web page, updated every second.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01168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194560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208483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vs Time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9572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line chart showing power trend over hours. Plotted using Chart.js or Google Charts.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475488" cy="47548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363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68680" y="30449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Usage Stats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33558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per-day kWh consumed — data pulled from Firebase Realtime Database.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4297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4114800"/>
            <a:ext cx="475488" cy="475488"/>
          </a:xfrm>
          <a:prstGeom prst="ellipse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096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🔁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68680" y="40050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Data Refresh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68680" y="431596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uses JavaScript fetch() to auto-refresh readings every 5 seconds. No page reload needed.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46320" y="1005840"/>
            <a:ext cx="4023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AACC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0058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59952" y="1005840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46320" y="38221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759952" y="3822192"/>
            <a:ext cx="109728" cy="1097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4892040" y="1051560"/>
          <a:ext cx="39319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4846320" y="3977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B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3: Sample Power vs Time Graph (Live Dashboard)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0" y="4892040"/>
            <a:ext cx="9144000" cy="6400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474720"/>
            <a:ext cx="2286000" cy="2286000"/>
          </a:xfrm>
          <a:prstGeom prst="ellipse">
            <a:avLst/>
          </a:prstGeom>
          <a:solidFill>
            <a:srgbClr val="0D2133"/>
          </a:solidFill>
          <a:ln w="12700">
            <a:solidFill>
              <a:srgbClr val="0D21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371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&amp; Usage Prediction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758952"/>
            <a:ext cx="2286000" cy="4572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3931920" cy="2514600"/>
          </a:xfrm>
          <a:prstGeom prst="rect">
            <a:avLst/>
          </a:prstGeom>
          <a:solidFill>
            <a:srgbClr val="0D1F33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3931920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Smart Alerts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38988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Logic: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(power &gt; limit) trigger alert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Channels: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via SMTP / IFTTT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Telegram Bot API push message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On-screen red warning banner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Benefit: Prevents overload, saves bill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17720" y="960120"/>
            <a:ext cx="3931920" cy="2514600"/>
          </a:xfrm>
          <a:prstGeom prst="rect">
            <a:avLst/>
          </a:prstGeom>
          <a:solidFill>
            <a:srgbClr val="0D1F33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960120"/>
            <a:ext cx="3931920" cy="384048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17720" y="9875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Usage Prediction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389888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(7-10 days):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timestamped power values in Firebase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Method: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linear extrapolation formula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Or basic ML regression model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5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monthly kWh &amp; bill in (Rs)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657600"/>
            <a:ext cx="8321040" cy="1143000"/>
          </a:xfrm>
          <a:prstGeom prst="rect">
            <a:avLst/>
          </a:prstGeom>
          <a:solidFill>
            <a:srgbClr val="0A2A1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" y="3657600"/>
            <a:ext cx="8321040" cy="34747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685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 Step 11: Testing &amp; Calibration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4041648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Check sensor accuracy against calibrated reference meter   • Adjust ADC calibration constants   • Ensure stable readings over 10–15 minutes   • Validate Firebase data sync and relay switching speed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114800" cy="4114800"/>
          </a:xfrm>
          <a:prstGeom prst="ellipse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091520"/>
          </a:solidFill>
          <a:ln w="12700">
            <a:solidFill>
              <a:srgbClr val="0915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65760" y="749808"/>
            <a:ext cx="2011680" cy="457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6012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65176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0698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1581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Monitoring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960120"/>
            <a:ext cx="26517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0698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154680" y="1581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Appliance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via Web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96012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E64A19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960120"/>
            <a:ext cx="2651760" cy="54864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06984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035040" y="158191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Data Storage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(Firebase)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37744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77440"/>
            <a:ext cx="2651760" cy="54864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4871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74320" y="29992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Charts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54680" y="237744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C6282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2377440"/>
            <a:ext cx="2651760" cy="54864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54680" y="24871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🔔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3154680" y="29992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Alerts via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/ Email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2377440"/>
            <a:ext cx="2651760" cy="1234440"/>
          </a:xfrm>
          <a:prstGeom prst="rect">
            <a:avLst/>
          </a:prstGeom>
          <a:solidFill>
            <a:srgbClr val="0D1F33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4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35040" y="2377440"/>
            <a:ext cx="2651760" cy="5486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35040" y="248716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6035040" y="299923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(ML/Avg)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3913632"/>
            <a:ext cx="8595360" cy="978408"/>
          </a:xfrm>
          <a:prstGeom prst="rect">
            <a:avLst/>
          </a:prstGeom>
          <a:solidFill>
            <a:srgbClr val="030B1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913632"/>
            <a:ext cx="64008" cy="9784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75488" y="4251960"/>
            <a:ext cx="8138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 indent="0" marL="0">
              <a:buNone/>
            </a:pPr>
            <a:r>
              <a:rPr lang="en-US" sz="1150" dirty="0">
                <a:solidFill>
                  <a:srgbClr val="B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Smart Energy Monitoring System successfully integrates ESP32 with Firebase and web technologies to deliver a cost-effective, scalable IoT solution. It provides real-time insights, remote appliance control, smart notifications, and predictive analytics — empowering users to manage energy intelligently.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Energy Monitoring System</dc:title>
  <dc:subject>PptxGenJS Presentation</dc:subject>
  <dc:creator>PptxGenJS</dc:creator>
  <cp:lastModifiedBy>PptxGenJS</cp:lastModifiedBy>
  <cp:revision>1</cp:revision>
  <dcterms:created xsi:type="dcterms:W3CDTF">2026-05-05T07:38:55Z</dcterms:created>
  <dcterms:modified xsi:type="dcterms:W3CDTF">2026-05-05T07:38:55Z</dcterms:modified>
</cp:coreProperties>
</file>